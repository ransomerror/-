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4" r:id="rId7"/>
    <p:sldId id="260" r:id="rId8"/>
    <p:sldId id="261" r:id="rId9"/>
    <p:sldId id="262" r:id="rId10"/>
    <p:sldId id="263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29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C68D"/>
    <a:srgbClr val="E2F6AB"/>
    <a:srgbClr val="436F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14"/>
        <p:guide pos="296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2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3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4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5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6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7.wav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8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64592" cy="5394960"/>
          </a:xfrm>
          <a:prstGeom prst="rect">
            <a:avLst/>
          </a:prstGeom>
          <a:solidFill>
            <a:srgbClr val="436F52"/>
          </a:solidFill>
          <a:ln>
            <a:solidFill>
              <a:srgbClr val="436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143000"/>
            <a:ext cx="905256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262A2E"/>
                </a:solidFill>
                <a:latin typeface="Aptos"/>
              </a:rPr>
              <a:t>Доходы и расходы
нашей семьи</a:t>
            </a:r>
            <a:endParaRPr sz="38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70432" y="2940050"/>
            <a:ext cx="7955279" cy="383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676C70"/>
                </a:solidFill>
                <a:latin typeface="Aptos"/>
              </a:rPr>
              <a:t> два дома • обычные семейные расходы</a:t>
            </a:r>
            <a:endParaRPr sz="1900" b="0">
              <a:solidFill>
                <a:srgbClr val="676C70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70432" y="3977639"/>
            <a:ext cx="2971800" cy="960120"/>
          </a:xfrm>
          <a:prstGeom prst="roundRect">
            <a:avLst>
              <a:gd name="adj" fmla="val 12000"/>
            </a:avLst>
          </a:prstGeom>
          <a:solidFill>
            <a:srgbClr val="E0EAE1"/>
          </a:soli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4133087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436F52"/>
                </a:solidFill>
                <a:latin typeface="Aptos"/>
              </a:rPr>
              <a:t>Доходы</a:t>
            </a:r>
            <a:endParaRPr sz="20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43400" y="3977639"/>
            <a:ext cx="2971800" cy="960120"/>
          </a:xfrm>
          <a:prstGeom prst="roundRect">
            <a:avLst>
              <a:gd name="adj" fmla="val 12000"/>
            </a:avLst>
          </a:prstGeom>
          <a:solidFill>
            <a:srgbClr val="E8E0D1"/>
          </a:solidFill>
          <a:ln>
            <a:solidFill>
              <a:srgbClr val="E8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4133087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62A2E"/>
                </a:solidFill>
                <a:latin typeface="Aptos"/>
              </a:rPr>
              <a:t>Расходы</a:t>
            </a:r>
            <a:endParaRPr sz="2000" b="1">
              <a:solidFill>
                <a:srgbClr val="262A2E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  <p:sndAc>
          <p:stSnd>
            <p:snd r:embed="rId1" name="suction.wav"/>
          </p:stSnd>
        </p:sndAc>
      </p:transition>
    </mc:Choice>
    <mc:Fallback>
      <p:transition spd="med">
        <p:pull/>
        <p:sndAc>
          <p:stSnd>
            <p:snd r:embed="rId1" name="suction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966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62A2E"/>
                </a:solidFill>
                <a:latin typeface="Aptos"/>
              </a:rPr>
              <a:t>Где живёт наша семья</a:t>
            </a:r>
            <a:endParaRPr sz="28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31" name="Rounded Rectangle 11"/>
          <p:cNvSpPr/>
          <p:nvPr/>
        </p:nvSpPr>
        <p:spPr>
          <a:xfrm>
            <a:off x="11065510" y="507365"/>
            <a:ext cx="444500" cy="262890"/>
          </a:xfrm>
          <a:prstGeom prst="roundRect">
            <a:avLst>
              <a:gd name="adj" fmla="val 12000"/>
            </a:avLst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60000">
                <a:srgbClr val="B6C68D"/>
              </a:gs>
              <a:gs pos="0">
                <a:schemeClr val="accent3">
                  <a:lumMod val="20000"/>
                  <a:lumOff val="80000"/>
                </a:schemeClr>
              </a:gs>
              <a:gs pos="74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60000"/>
                  <a:lumOff val="40000"/>
                </a:schemeClr>
              </a:gs>
              <a:gs pos="94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29768"/>
            <a:ext cx="640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02</a:t>
            </a:r>
            <a:endParaRPr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15240"/>
          </a:xfrm>
          <a:prstGeom prst="rect">
            <a:avLst/>
          </a:prstGeom>
          <a:solidFill>
            <a:srgbClr val="D3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8660" y="1619250"/>
            <a:ext cx="5303520" cy="328993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" y="1612265"/>
            <a:ext cx="4480560" cy="4832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600" b="1">
                <a:solidFill>
                  <a:srgbClr val="436F52"/>
                </a:solidFill>
                <a:latin typeface="Aptos"/>
              </a:rPr>
              <a:t>Квартира</a:t>
            </a:r>
            <a:endParaRPr sz="26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8700" y="2028825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48740" y="2010537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холодная вода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8700" y="2531745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48740" y="2513457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водоотведение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8700" y="3034665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48740" y="3016377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отопление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8700" y="3537585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48740" y="3519297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электричество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8700" y="4040505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48740" y="4022217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обычные коммунальные платежи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0" y="1599565"/>
            <a:ext cx="5303520" cy="3416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624965"/>
            <a:ext cx="4480560" cy="4914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2600" b="1">
                <a:solidFill>
                  <a:srgbClr val="436F52"/>
                </a:solidFill>
                <a:latin typeface="Aptos"/>
              </a:rPr>
              <a:t>Частный д</a:t>
            </a:r>
            <a:r>
              <a:rPr sz="2600" b="1">
                <a:solidFill>
                  <a:srgbClr val="436F52"/>
                </a:solidFill>
                <a:latin typeface="Aptos"/>
              </a:rPr>
              <a:t>ом</a:t>
            </a:r>
            <a:endParaRPr sz="26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7960" y="2135505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0" y="2117217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вода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37960" y="2638425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0" y="2620137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без центральной канализации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37960" y="3141345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0" y="3123057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отопление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37960" y="3644265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58000" y="3625977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электричество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37960" y="4147185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0" y="4128897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расход электричества выше из-за техники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wind.wav"/>
          </p:stSnd>
        </p:sndAc>
      </p:transition>
    </mc:Choice>
    <mc:Fallback>
      <p:transition spd="slow">
        <p:fade/>
        <p:sndAc>
          <p:stSnd>
            <p:snd r:embed="rId1" name="wind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966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62A2E"/>
                </a:solidFill>
                <a:latin typeface="Aptos"/>
              </a:rPr>
              <a:t>Коммунальные расходы</a:t>
            </a:r>
            <a:endParaRPr sz="28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32" name="Rounded Rectangle 11"/>
          <p:cNvSpPr/>
          <p:nvPr/>
        </p:nvSpPr>
        <p:spPr>
          <a:xfrm>
            <a:off x="11065510" y="507365"/>
            <a:ext cx="444500" cy="262890"/>
          </a:xfrm>
          <a:prstGeom prst="roundRect">
            <a:avLst>
              <a:gd name="adj" fmla="val 12000"/>
            </a:avLst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60000">
                <a:srgbClr val="B6C68D"/>
              </a:gs>
              <a:gs pos="0">
                <a:schemeClr val="accent3">
                  <a:lumMod val="20000"/>
                  <a:lumOff val="80000"/>
                </a:schemeClr>
              </a:gs>
              <a:gs pos="74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60000"/>
                  <a:lumOff val="40000"/>
                </a:schemeClr>
              </a:gs>
              <a:gs pos="94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29768"/>
            <a:ext cx="640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03</a:t>
            </a:r>
            <a:endParaRPr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15240"/>
          </a:xfrm>
          <a:prstGeom prst="rect">
            <a:avLst/>
          </a:prstGeom>
          <a:solidFill>
            <a:srgbClr val="D3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62A2E"/>
                </a:solidFill>
                <a:latin typeface="Aptos"/>
              </a:rPr>
              <a:t>Квартира в Южном</a:t>
            </a:r>
            <a:endParaRPr sz="23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21208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Вода + водоотведение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51960" y="210312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36F52"/>
                </a:solidFill>
                <a:latin typeface="Aptos"/>
              </a:rPr>
              <a:t>≈ 1 500 ₽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2734056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Отопление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51960" y="2734056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36F52"/>
                </a:solidFill>
                <a:latin typeface="Aptos"/>
              </a:rPr>
              <a:t>≈ 4 500 ₽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364991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Электричество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51960" y="3364991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36F52"/>
                </a:solidFill>
                <a:latin typeface="Aptos"/>
              </a:rPr>
              <a:t>≈ 4 500 ₽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3995927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Интернет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51960" y="3995927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36F52"/>
                </a:solidFill>
                <a:latin typeface="Aptos"/>
              </a:rPr>
              <a:t>≈ 1 500 ₽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4626864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Другие платежи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51960" y="4626864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36F52"/>
                </a:solidFill>
                <a:latin typeface="Aptos"/>
              </a:rPr>
              <a:t>≈ 2 000 ₽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5840" y="5148072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62A2E"/>
                </a:solidFill>
                <a:latin typeface="Aptos"/>
              </a:rPr>
              <a:t>Итого: ≈ 12 500 ₽</a:t>
            </a:r>
            <a:endParaRPr sz="19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09360" y="1417320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62A2E"/>
                </a:solidFill>
                <a:latin typeface="Aptos"/>
              </a:rPr>
              <a:t>Дом в Благодатном</a:t>
            </a:r>
            <a:endParaRPr sz="23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09360" y="1965960"/>
            <a:ext cx="521208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333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Вода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555480" y="2103120"/>
            <a:ext cx="1600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436F52"/>
                </a:solidFill>
                <a:latin typeface="Aptos"/>
              </a:rPr>
              <a:t>≈ 500 ₽</a:t>
            </a:r>
            <a:endParaRPr sz="16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0" y="2734056"/>
            <a:ext cx="333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Канализации нет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55480" y="2734056"/>
            <a:ext cx="1600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436F52"/>
                </a:solidFill>
                <a:latin typeface="Aptos"/>
              </a:rPr>
              <a:t>откачка ёмкости — отдельно</a:t>
            </a:r>
            <a:endParaRPr sz="16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0" y="3364991"/>
            <a:ext cx="333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Отопление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55480" y="3364991"/>
            <a:ext cx="1600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436F52"/>
                </a:solidFill>
                <a:latin typeface="Aptos"/>
              </a:rPr>
              <a:t>≈ 3 500 ₽</a:t>
            </a:r>
            <a:endParaRPr sz="16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3680" y="3995927"/>
            <a:ext cx="333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Электричество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555480" y="3995927"/>
            <a:ext cx="1600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436F52"/>
                </a:solidFill>
                <a:latin typeface="Aptos"/>
              </a:rPr>
              <a:t>≈ 10 000 ₽</a:t>
            </a:r>
            <a:endParaRPr sz="16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0" y="4626864"/>
            <a:ext cx="333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Прочие расходы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555480" y="4626864"/>
            <a:ext cx="1600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436F52"/>
                </a:solidFill>
                <a:latin typeface="Aptos"/>
              </a:rPr>
              <a:t>≈ 500 ₽</a:t>
            </a:r>
            <a:endParaRPr sz="16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14400" y="5833872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676C70"/>
                </a:solidFill>
                <a:latin typeface="Aptos"/>
              </a:rPr>
              <a:t>Откачка септика/накопительной ёмкости: ≈ 1 500 ₽ в месяц в среднем</a:t>
            </a:r>
            <a:endParaRPr sz="1400" b="0">
              <a:solidFill>
                <a:srgbClr val="676C70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5840" y="6165850"/>
            <a:ext cx="10469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676C70"/>
                </a:solidFill>
                <a:latin typeface="Aptos"/>
              </a:rPr>
              <a:t>На электричество в квартире сильнее всего влияет компьютер; телевизор тоже работает постоянно, но расход у него заметно меньше.</a:t>
            </a:r>
            <a:endParaRPr sz="1400" b="0">
              <a:solidFill>
                <a:srgbClr val="676C70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/>
        <p:sndAc>
          <p:stSnd>
            <p:snd r:embed="rId1" name="cashreg.wav"/>
          </p:stSnd>
        </p:sndAc>
      </p:transition>
    </mc:Choice>
    <mc:Fallback>
      <p:transition spd="slow">
        <p:split/>
        <p:sndAc>
          <p:stSnd>
            <p:snd r:embed="rId1" name="cashreg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47675"/>
            <a:ext cx="996696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62A2E"/>
                </a:solidFill>
                <a:latin typeface="Aptos"/>
              </a:rPr>
              <a:t>Электричество</a:t>
            </a:r>
            <a:r>
              <a:rPr lang="ru-RU" sz="2800" b="1">
                <a:solidFill>
                  <a:srgbClr val="262A2E"/>
                </a:solidFill>
                <a:latin typeface="Aptos"/>
              </a:rPr>
              <a:t> </a:t>
            </a:r>
            <a:r>
              <a:rPr lang="ru-RU" sz="2800" b="1" i="1">
                <a:solidFill>
                  <a:srgbClr val="262A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в квартире</a:t>
            </a:r>
            <a:endParaRPr lang="ru-RU" sz="2800" b="1" i="1">
              <a:solidFill>
                <a:srgbClr val="262A2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/>
            </a:endParaRPr>
          </a:p>
        </p:txBody>
      </p:sp>
      <p:sp>
        <p:nvSpPr>
          <p:cNvPr id="26" name="Rounded Rectangle 11"/>
          <p:cNvSpPr/>
          <p:nvPr/>
        </p:nvSpPr>
        <p:spPr>
          <a:xfrm>
            <a:off x="11065510" y="507365"/>
            <a:ext cx="444500" cy="262890"/>
          </a:xfrm>
          <a:prstGeom prst="roundRect">
            <a:avLst>
              <a:gd name="adj" fmla="val 12000"/>
            </a:avLst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60000">
                <a:srgbClr val="B6C68D"/>
              </a:gs>
              <a:gs pos="0">
                <a:schemeClr val="accent3">
                  <a:lumMod val="20000"/>
                  <a:lumOff val="80000"/>
                </a:schemeClr>
              </a:gs>
              <a:gs pos="74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60000"/>
                  <a:lumOff val="40000"/>
                </a:schemeClr>
              </a:gs>
              <a:gs pos="94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29768"/>
            <a:ext cx="640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04</a:t>
            </a:r>
            <a:endParaRPr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62940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1"/>
          <p:cNvSpPr/>
          <p:nvPr/>
        </p:nvSpPr>
        <p:spPr>
          <a:xfrm>
            <a:off x="1060450" y="4376420"/>
            <a:ext cx="5869940" cy="913765"/>
          </a:xfrm>
          <a:prstGeom prst="roundRect">
            <a:avLst>
              <a:gd name="adj" fmla="val 12000"/>
            </a:avLst>
          </a:prstGeom>
          <a:solidFill>
            <a:srgbClr val="E0EAE1"/>
          </a:soli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1"/>
          <p:cNvSpPr/>
          <p:nvPr/>
        </p:nvSpPr>
        <p:spPr>
          <a:xfrm>
            <a:off x="1060450" y="3369945"/>
            <a:ext cx="5716905" cy="890905"/>
          </a:xfrm>
          <a:prstGeom prst="roundRect">
            <a:avLst>
              <a:gd name="adj" fmla="val 12000"/>
            </a:avLst>
          </a:prstGeom>
          <a:solidFill>
            <a:srgbClr val="E0EAE1"/>
          </a:soli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62A2E"/>
                </a:solidFill>
                <a:latin typeface="Aptos"/>
              </a:rPr>
              <a:t>Что расходует электричество у нас</a:t>
            </a:r>
            <a:endParaRPr sz="24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16" name="Rounded Rectangle 11"/>
          <p:cNvSpPr/>
          <p:nvPr/>
        </p:nvSpPr>
        <p:spPr>
          <a:xfrm>
            <a:off x="984885" y="2340610"/>
            <a:ext cx="5641340" cy="890905"/>
          </a:xfrm>
          <a:prstGeom prst="roundRect">
            <a:avLst>
              <a:gd name="adj" fmla="val 12000"/>
            </a:avLst>
          </a:prstGeom>
          <a:solidFill>
            <a:srgbClr val="E0EAE1"/>
          </a:soli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5200" y="2416810"/>
            <a:ext cx="1583690" cy="70040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Компьютер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3160" y="2422970"/>
            <a:ext cx="452628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62A2E"/>
                </a:solidFill>
                <a:latin typeface="Aptos"/>
              </a:rPr>
              <a:t> основной </a:t>
            </a:r>
            <a:r>
              <a:rPr sz="1600" b="1">
                <a:solidFill>
                  <a:srgbClr val="436F52"/>
                </a:solidFill>
                <a:latin typeface="Aptos"/>
              </a:rPr>
              <a:t>заметный</a:t>
            </a:r>
            <a:r>
              <a:rPr sz="1600" b="0">
                <a:solidFill>
                  <a:srgbClr val="262A2E"/>
                </a:solidFill>
                <a:latin typeface="Aptos"/>
              </a:rPr>
              <a:t> потребитель электричества в квартире.</a:t>
            </a:r>
            <a:endParaRPr sz="16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0450" y="3629787"/>
            <a:ext cx="1417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Телевизор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23160" y="3512122"/>
            <a:ext cx="452628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62A2E"/>
                </a:solidFill>
                <a:latin typeface="Aptos"/>
              </a:rPr>
              <a:t>Работает почти постоянно, но по сравнению с компьютером расход у него </a:t>
            </a:r>
            <a:r>
              <a:rPr sz="1600" b="1">
                <a:solidFill>
                  <a:srgbClr val="436F52"/>
                </a:solidFill>
                <a:latin typeface="Aptos"/>
              </a:rPr>
              <a:t>небольшой.</a:t>
            </a:r>
            <a:endParaRPr sz="16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4600194"/>
            <a:ext cx="1417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Остальная техника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23160" y="4376484"/>
            <a:ext cx="4526280" cy="829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62A2E"/>
                </a:solidFill>
                <a:latin typeface="Aptos"/>
              </a:rPr>
              <a:t>Холодильник, свет, зарядки и другая бытовая техника тоже дают расход, но он распределён между </a:t>
            </a:r>
            <a:r>
              <a:rPr sz="1600" b="1">
                <a:solidFill>
                  <a:srgbClr val="436F52"/>
                </a:solidFill>
                <a:latin typeface="Aptos"/>
              </a:rPr>
              <a:t>множеством приборов.</a:t>
            </a:r>
            <a:endParaRPr sz="16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35240" y="1417320"/>
            <a:ext cx="3794760" cy="4526280"/>
          </a:xfrm>
          <a:prstGeom prst="roundRect">
            <a:avLst>
              <a:gd name="adj" fmla="val 12000"/>
            </a:avLst>
          </a:prstGeom>
          <a:solidFill>
            <a:srgbClr val="E0EAE1"/>
          </a:soli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645920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436F52"/>
                </a:solidFill>
                <a:latin typeface="Aptos"/>
              </a:rPr>
              <a:t>Главное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0" y="2423160"/>
            <a:ext cx="3063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62A2E"/>
                </a:solidFill>
                <a:latin typeface="Aptos"/>
              </a:rPr>
              <a:t>В квартире основной дополнительный расход даёт компьютер.</a:t>
            </a:r>
            <a:endParaRPr sz="22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1000" y="3912235"/>
            <a:ext cx="3063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676C70"/>
                </a:solidFill>
                <a:latin typeface="Aptos"/>
              </a:rPr>
              <a:t>Особенно во время игр или другой тяжёлой нагрузки, когда компьютер потребляет больше мощности.</a:t>
            </a:r>
            <a:endParaRPr sz="1600" b="0">
              <a:solidFill>
                <a:srgbClr val="676C70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push.wav"/>
          </p:stSnd>
        </p:sndAc>
      </p:transition>
    </mc:Choice>
    <mc:Fallback>
      <p:transition spd="slow">
        <p:fade/>
        <p:sndAc>
          <p:stSnd>
            <p:snd r:embed="rId1" name="pu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47675"/>
            <a:ext cx="996696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62A2E"/>
                </a:solidFill>
                <a:latin typeface="Aptos"/>
                <a:sym typeface="+mn-ea"/>
              </a:rPr>
              <a:t>Электричество</a:t>
            </a:r>
            <a:r>
              <a:rPr lang="ru-RU" sz="2800" b="1">
                <a:solidFill>
                  <a:srgbClr val="262A2E"/>
                </a:solidFill>
                <a:latin typeface="Aptos"/>
                <a:sym typeface="+mn-ea"/>
              </a:rPr>
              <a:t> </a:t>
            </a:r>
            <a:r>
              <a:rPr lang="ru-RU" sz="2800" b="1" i="1">
                <a:solidFill>
                  <a:srgbClr val="262A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  <a:sym typeface="+mn-ea"/>
              </a:rPr>
              <a:t>в частном доме</a:t>
            </a:r>
            <a:endParaRPr sz="28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26" name="Rounded Rectangle 11"/>
          <p:cNvSpPr/>
          <p:nvPr/>
        </p:nvSpPr>
        <p:spPr>
          <a:xfrm>
            <a:off x="11065510" y="507365"/>
            <a:ext cx="444500" cy="262890"/>
          </a:xfrm>
          <a:prstGeom prst="roundRect">
            <a:avLst>
              <a:gd name="adj" fmla="val 12000"/>
            </a:avLst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60000">
                <a:srgbClr val="B6C68D"/>
              </a:gs>
              <a:gs pos="0">
                <a:schemeClr val="accent3">
                  <a:lumMod val="20000"/>
                  <a:lumOff val="80000"/>
                </a:schemeClr>
              </a:gs>
              <a:gs pos="74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60000"/>
                  <a:lumOff val="40000"/>
                </a:schemeClr>
              </a:gs>
              <a:gs pos="94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74536"/>
            <a:ext cx="640080" cy="321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0</a:t>
            </a:r>
            <a:r>
              <a:rPr lang="ru-RU" sz="1500" b="1">
                <a:solidFill>
                  <a:srgbClr val="436F52"/>
                </a:solidFill>
                <a:latin typeface="Aptos"/>
              </a:rPr>
              <a:t>5</a:t>
            </a:r>
            <a:endParaRPr lang="ru-RU"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62940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1"/>
          <p:cNvSpPr/>
          <p:nvPr/>
        </p:nvSpPr>
        <p:spPr>
          <a:xfrm>
            <a:off x="1051560" y="3321685"/>
            <a:ext cx="5620385" cy="754380"/>
          </a:xfrm>
          <a:prstGeom prst="roundRect">
            <a:avLst>
              <a:gd name="adj" fmla="val 12000"/>
            </a:avLst>
          </a:prstGeom>
          <a:solidFill>
            <a:srgbClr val="E0EAE1"/>
          </a:soli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1"/>
          <p:cNvSpPr/>
          <p:nvPr/>
        </p:nvSpPr>
        <p:spPr>
          <a:xfrm>
            <a:off x="1090930" y="2397760"/>
            <a:ext cx="5501640" cy="667385"/>
          </a:xfrm>
          <a:prstGeom prst="roundRect">
            <a:avLst>
              <a:gd name="adj" fmla="val 12000"/>
            </a:avLst>
          </a:prstGeom>
          <a:solidFill>
            <a:srgbClr val="E0EAE1"/>
          </a:soli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62A2E"/>
                </a:solidFill>
                <a:latin typeface="Aptos"/>
              </a:rPr>
              <a:t>Что расходует электричество у нас</a:t>
            </a:r>
            <a:endParaRPr sz="24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0930" y="2220595"/>
            <a:ext cx="1377950" cy="98933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ru-RU" sz="1800" b="1">
                <a:solidFill>
                  <a:srgbClr val="436F52"/>
                </a:solidFill>
                <a:latin typeface="Aptos"/>
              </a:rPr>
              <a:t>ноутбуки и станки</a:t>
            </a:r>
            <a:endParaRPr lang="ru-RU"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68880" y="2428685"/>
            <a:ext cx="452628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600" b="0">
                <a:solidFill>
                  <a:srgbClr val="262A2E"/>
                </a:solidFill>
                <a:latin typeface="Aptos"/>
              </a:rPr>
              <a:t>самые основные источники расходывания электричества, работают</a:t>
            </a:r>
            <a:endParaRPr lang="ru-RU" sz="1600" b="1" i="1">
              <a:solidFill>
                <a:srgbClr val="00B050"/>
              </a:solidFill>
              <a:effectLst/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6510" y="3406775"/>
            <a:ext cx="1731645" cy="5238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ru-RU" sz="1800" b="1">
                <a:solidFill>
                  <a:srgbClr val="436F52"/>
                </a:solidFill>
                <a:latin typeface="Aptos"/>
              </a:rPr>
              <a:t>свет</a:t>
            </a:r>
            <a:endParaRPr lang="ru-RU"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13305" y="3413062"/>
            <a:ext cx="452628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62A2E"/>
                </a:solidFill>
                <a:latin typeface="Aptos"/>
              </a:rPr>
              <a:t>Работает почти постоянно, </a:t>
            </a:r>
            <a:r>
              <a:rPr lang="ru-RU" sz="1600" b="0">
                <a:solidFill>
                  <a:srgbClr val="262A2E"/>
                </a:solidFill>
                <a:latin typeface="Aptos"/>
              </a:rPr>
              <a:t>но по сравнению с ноутбуками и станками, это </a:t>
            </a:r>
            <a:r>
              <a:rPr lang="ru-RU" sz="1600" b="1">
                <a:solidFill>
                  <a:srgbClr val="436F52"/>
                </a:solidFill>
                <a:effectLst/>
                <a:latin typeface="Aptos"/>
              </a:rPr>
              <a:t>смешно.</a:t>
            </a:r>
            <a:endParaRPr lang="ru-RU" sz="1600" b="1">
              <a:solidFill>
                <a:srgbClr val="436F52"/>
              </a:solidFill>
              <a:effectLst/>
              <a:latin typeface="Aptos"/>
            </a:endParaRPr>
          </a:p>
        </p:txBody>
      </p:sp>
      <p:sp>
        <p:nvSpPr>
          <p:cNvPr id="19" name="Rounded Rectangle 11"/>
          <p:cNvSpPr/>
          <p:nvPr/>
        </p:nvSpPr>
        <p:spPr>
          <a:xfrm>
            <a:off x="1090930" y="4344670"/>
            <a:ext cx="5796280" cy="903605"/>
          </a:xfrm>
          <a:prstGeom prst="roundRect">
            <a:avLst>
              <a:gd name="adj" fmla="val 12000"/>
            </a:avLst>
          </a:prstGeom>
          <a:solidFill>
            <a:srgbClr val="E0EAE1"/>
          </a:soli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489704"/>
            <a:ext cx="1417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Остальная техника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23160" y="4376484"/>
            <a:ext cx="4526280" cy="829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62A2E"/>
                </a:solidFill>
                <a:latin typeface="Aptos"/>
              </a:rPr>
              <a:t>Холодильник, зарядки и другая бытовая техника тоже дают расход, но он распределён между </a:t>
            </a:r>
            <a:r>
              <a:rPr sz="1600" b="1">
                <a:solidFill>
                  <a:srgbClr val="436F52"/>
                </a:solidFill>
                <a:latin typeface="Aptos"/>
              </a:rPr>
              <a:t>множеством приборов</a:t>
            </a:r>
            <a:r>
              <a:rPr lang="ru-RU" sz="1600" b="1">
                <a:solidFill>
                  <a:srgbClr val="436F52"/>
                </a:solidFill>
                <a:latin typeface="Aptos"/>
              </a:rPr>
              <a:t>.</a:t>
            </a:r>
            <a:endParaRPr lang="ru-RU" sz="16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35240" y="1417320"/>
            <a:ext cx="3794760" cy="4526280"/>
          </a:xfrm>
          <a:prstGeom prst="roundRect">
            <a:avLst>
              <a:gd name="adj" fmla="val 12000"/>
            </a:avLst>
          </a:prstGeom>
          <a:solidFill>
            <a:srgbClr val="E0EAE1"/>
          </a:soli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645920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436F52"/>
                </a:solidFill>
                <a:latin typeface="Aptos"/>
              </a:rPr>
              <a:t>Главное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35240" y="1962150"/>
            <a:ext cx="3808095" cy="195008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200" b="1">
                <a:solidFill>
                  <a:srgbClr val="262A2E"/>
                </a:solidFill>
                <a:latin typeface="Aptos"/>
              </a:rPr>
              <a:t>В </a:t>
            </a:r>
            <a:r>
              <a:rPr lang="ru-RU" sz="2200" b="1">
                <a:solidFill>
                  <a:srgbClr val="262A2E"/>
                </a:solidFill>
                <a:latin typeface="Aptos"/>
              </a:rPr>
              <a:t>частном доме</a:t>
            </a:r>
            <a:r>
              <a:rPr sz="2200" b="1">
                <a:solidFill>
                  <a:srgbClr val="262A2E"/>
                </a:solidFill>
                <a:latin typeface="Aptos"/>
              </a:rPr>
              <a:t> основной дополнительный расход даёт </a:t>
            </a:r>
            <a:r>
              <a:rPr lang="ru-RU" sz="2200" b="1">
                <a:solidFill>
                  <a:srgbClr val="262A2E"/>
                </a:solidFill>
                <a:latin typeface="Aptos"/>
              </a:rPr>
              <a:t>основной ноутбук, он работает в сложных программах 24</a:t>
            </a:r>
            <a:r>
              <a:rPr lang="en-US" sz="2200" b="1">
                <a:solidFill>
                  <a:srgbClr val="262A2E"/>
                </a:solidFill>
                <a:latin typeface="Aptos"/>
              </a:rPr>
              <a:t>/</a:t>
            </a:r>
            <a:r>
              <a:rPr lang="ru-RU" sz="2200" b="1">
                <a:solidFill>
                  <a:srgbClr val="262A2E"/>
                </a:solidFill>
                <a:latin typeface="Aptos"/>
              </a:rPr>
              <a:t>7</a:t>
            </a:r>
            <a:r>
              <a:rPr sz="2200" b="1">
                <a:solidFill>
                  <a:srgbClr val="262A2E"/>
                </a:solidFill>
                <a:latin typeface="Aptos"/>
              </a:rPr>
              <a:t>.</a:t>
            </a:r>
            <a:endParaRPr sz="22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1000" y="3799840"/>
            <a:ext cx="3063240" cy="13220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676C70"/>
                </a:solidFill>
                <a:latin typeface="Aptos"/>
              </a:rPr>
              <a:t>Особенно во время </a:t>
            </a:r>
            <a:r>
              <a:rPr lang="ru-RU" sz="1600" b="0">
                <a:solidFill>
                  <a:srgbClr val="676C70"/>
                </a:solidFill>
                <a:latin typeface="Aptos"/>
              </a:rPr>
              <a:t>моделирования </a:t>
            </a:r>
            <a:r>
              <a:rPr sz="1600" b="0">
                <a:solidFill>
                  <a:srgbClr val="676C70"/>
                </a:solidFill>
                <a:latin typeface="Aptos"/>
              </a:rPr>
              <a:t>или другой тяжёлой нагрузки, когда </a:t>
            </a:r>
            <a:r>
              <a:rPr lang="ru-RU" sz="1600" b="0">
                <a:solidFill>
                  <a:srgbClr val="676C70"/>
                </a:solidFill>
                <a:latin typeface="Aptos"/>
              </a:rPr>
              <a:t>ноутбук </a:t>
            </a:r>
            <a:r>
              <a:rPr sz="1600" b="0">
                <a:solidFill>
                  <a:srgbClr val="676C70"/>
                </a:solidFill>
                <a:latin typeface="Aptos"/>
              </a:rPr>
              <a:t>потребляет больше мощности.</a:t>
            </a:r>
            <a:endParaRPr sz="1600" b="0">
              <a:solidFill>
                <a:srgbClr val="676C70"/>
              </a:solidFill>
              <a:latin typeface="Aptos"/>
            </a:endParaRPr>
          </a:p>
        </p:txBody>
      </p:sp>
      <p:sp>
        <p:nvSpPr>
          <p:cNvPr id="16" name="TextBox 6"/>
          <p:cNvSpPr txBox="1"/>
          <p:nvPr/>
        </p:nvSpPr>
        <p:spPr>
          <a:xfrm>
            <a:off x="4919345" y="2569845"/>
            <a:ext cx="991235" cy="584835"/>
          </a:xfrm>
          <a:prstGeom prst="rect">
            <a:avLst/>
          </a:prstGeom>
          <a:noFill/>
          <a:effectLst>
            <a:softEdge rad="63500"/>
          </a:effectLst>
        </p:spPr>
        <p:txBody>
          <a:bodyPr wrap="square" anchor="ctr">
            <a:noAutofit/>
          </a:bodyPr>
          <a:lstStyle/>
          <a:p>
            <a:pPr algn="l"/>
            <a:r>
              <a:rPr lang="ru-RU" sz="1600" b="1">
                <a:solidFill>
                  <a:srgbClr val="436F52"/>
                </a:solidFill>
                <a:effectLst/>
                <a:latin typeface="Aptos"/>
                <a:sym typeface="+mn-ea"/>
              </a:rPr>
              <a:t>24</a:t>
            </a:r>
            <a:r>
              <a:rPr lang="en-US" sz="1600" b="1">
                <a:solidFill>
                  <a:srgbClr val="436F52"/>
                </a:solidFill>
                <a:effectLst/>
                <a:latin typeface="Aptos"/>
                <a:sym typeface="+mn-ea"/>
              </a:rPr>
              <a:t>/</a:t>
            </a:r>
            <a:r>
              <a:rPr lang="ru-RU" sz="1600" b="1">
                <a:solidFill>
                  <a:srgbClr val="436F52"/>
                </a:solidFill>
                <a:effectLst/>
                <a:latin typeface="Aptos"/>
                <a:sym typeface="+mn-ea"/>
              </a:rPr>
              <a:t>7.</a:t>
            </a:r>
            <a:endParaRPr lang="ru-RU" sz="1600" b="1">
              <a:solidFill>
                <a:srgbClr val="436F52"/>
              </a:solidFill>
              <a:effectLst/>
              <a:latin typeface="Apto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 dir="vert"/>
        <p:sndAc>
          <p:stSnd>
            <p:snd r:embed="rId1" name="whoosh.wav"/>
          </p:stSnd>
        </p:sndAc>
      </p:transition>
    </mc:Choice>
    <mc:Fallback>
      <p:transition spd="slow">
        <p:comb dir="vert"/>
        <p:sndAc>
          <p:stSnd>
            <p:snd r:embed="rId1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966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62A2E"/>
                </a:solidFill>
                <a:latin typeface="Aptos"/>
              </a:rPr>
              <a:t>Повседневные расходы</a:t>
            </a:r>
            <a:endParaRPr sz="28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26" name="Rounded Rectangle 11"/>
          <p:cNvSpPr/>
          <p:nvPr/>
        </p:nvSpPr>
        <p:spPr>
          <a:xfrm>
            <a:off x="11065510" y="507365"/>
            <a:ext cx="444500" cy="262890"/>
          </a:xfrm>
          <a:prstGeom prst="roundRect">
            <a:avLst>
              <a:gd name="adj" fmla="val 12000"/>
            </a:avLst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60000">
                <a:srgbClr val="B6C68D"/>
              </a:gs>
              <a:gs pos="0">
                <a:schemeClr val="accent3">
                  <a:lumMod val="20000"/>
                  <a:lumOff val="80000"/>
                </a:schemeClr>
              </a:gs>
              <a:gs pos="74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60000"/>
                  <a:lumOff val="40000"/>
                </a:schemeClr>
              </a:gs>
              <a:gs pos="94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74536"/>
            <a:ext cx="640080" cy="321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0</a:t>
            </a:r>
            <a:r>
              <a:rPr lang="ru-RU" sz="1500" b="1">
                <a:solidFill>
                  <a:srgbClr val="436F52"/>
                </a:solidFill>
                <a:latin typeface="Aptos"/>
              </a:rPr>
              <a:t>6</a:t>
            </a:r>
            <a:endParaRPr lang="ru-RU"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15240"/>
          </a:xfrm>
          <a:prstGeom prst="rect">
            <a:avLst/>
          </a:prstGeom>
          <a:solidFill>
            <a:srgbClr val="D3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55448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436F52"/>
                </a:solidFill>
                <a:latin typeface="Aptos"/>
              </a:rPr>
              <a:t>Продукты</a:t>
            </a:r>
            <a:endParaRPr sz="20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97680" y="1554480"/>
            <a:ext cx="6492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основная часть ежемесячных расходов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436F52"/>
                </a:solidFill>
                <a:latin typeface="Aptos"/>
              </a:rPr>
              <a:t>Транспорт</a:t>
            </a:r>
            <a:endParaRPr sz="20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80" y="2606040"/>
            <a:ext cx="6492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поездки по городу и за город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3520439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657599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436F52"/>
                </a:solidFill>
                <a:latin typeface="Aptos"/>
              </a:rPr>
              <a:t>Интернет и связь</a:t>
            </a:r>
            <a:endParaRPr sz="20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680" y="3657599"/>
            <a:ext cx="6492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домашний интернет и мобильная связь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" y="4572000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70916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436F52"/>
                </a:solidFill>
                <a:latin typeface="Aptos"/>
              </a:rPr>
              <a:t>Ozon и другие покупки</a:t>
            </a:r>
            <a:endParaRPr sz="20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97680" y="4709160"/>
            <a:ext cx="6492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одежда, вещи для дома, техника и другое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676C70"/>
                </a:solidFill>
                <a:latin typeface="Aptos"/>
              </a:rPr>
              <a:t>Часть расходов постоянная, а часть меняется от месяца к месяцу.</a:t>
            </a:r>
            <a:endParaRPr sz="1500" b="0">
              <a:solidFill>
                <a:srgbClr val="676C70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  <p:sndAc>
          <p:stSnd>
            <p:snd r:embed="rId1" name="laser.wav"/>
          </p:stSnd>
        </p:sndAc>
      </p:transition>
    </mc:Choice>
    <mc:Fallback>
      <p:transition spd="slow">
        <p:plus/>
        <p:sndAc>
          <p:stSnd>
            <p:snd r:embed="rId1" name="laser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966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62A2E"/>
                </a:solidFill>
                <a:latin typeface="Aptos"/>
              </a:rPr>
              <a:t>Наш магазин</a:t>
            </a:r>
            <a:endParaRPr sz="28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26" name="Rounded Rectangle 11"/>
          <p:cNvSpPr/>
          <p:nvPr/>
        </p:nvSpPr>
        <p:spPr>
          <a:xfrm>
            <a:off x="11065510" y="507365"/>
            <a:ext cx="444500" cy="262890"/>
          </a:xfrm>
          <a:prstGeom prst="roundRect">
            <a:avLst>
              <a:gd name="adj" fmla="val 12000"/>
            </a:avLst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60000">
                <a:srgbClr val="B6C68D"/>
              </a:gs>
              <a:gs pos="0">
                <a:schemeClr val="accent3">
                  <a:lumMod val="20000"/>
                  <a:lumOff val="80000"/>
                </a:schemeClr>
              </a:gs>
              <a:gs pos="74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60000"/>
                  <a:lumOff val="40000"/>
                </a:schemeClr>
              </a:gs>
              <a:gs pos="94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74536"/>
            <a:ext cx="640080" cy="321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0</a:t>
            </a:r>
            <a:r>
              <a:rPr lang="ru-RU" sz="1500" b="1">
                <a:solidFill>
                  <a:srgbClr val="436F52"/>
                </a:solidFill>
                <a:latin typeface="Aptos"/>
              </a:rPr>
              <a:t>7</a:t>
            </a:r>
            <a:endParaRPr lang="ru-RU"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15240"/>
          </a:xfrm>
          <a:prstGeom prst="rect">
            <a:avLst/>
          </a:prstGeom>
          <a:solidFill>
            <a:srgbClr val="D3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846320" cy="4480560"/>
          </a:xfrm>
          <a:prstGeom prst="roundRect">
            <a:avLst>
              <a:gd name="adj" fmla="val 12000"/>
            </a:avLst>
          </a:prstGeom>
          <a:solidFill>
            <a:srgbClr val="E0EAE1"/>
          </a:soli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436F52"/>
                </a:solidFill>
                <a:latin typeface="Aptos"/>
              </a:rPr>
              <a:t>Продажи</a:t>
            </a:r>
            <a:endParaRPr sz="26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023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262A2E"/>
                </a:solidFill>
                <a:latin typeface="Aptos"/>
              </a:rPr>
              <a:t>У семьи есть свой магазин на маркетплейсе.</a:t>
            </a:r>
            <a:endParaRPr sz="19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62A2E"/>
                </a:solidFill>
                <a:latin typeface="Aptos"/>
              </a:rPr>
              <a:t>Доходы от магазина</a:t>
            </a:r>
            <a:endParaRPr sz="18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676C70"/>
                </a:solidFill>
                <a:latin typeface="Aptos"/>
              </a:rPr>
              <a:t>часть денег приходит от продаж</a:t>
            </a:r>
            <a:endParaRPr sz="1800" b="0">
              <a:solidFill>
                <a:srgbClr val="676C7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0" y="1417320"/>
            <a:ext cx="5394960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62A2E"/>
                </a:solidFill>
                <a:latin typeface="Aptos"/>
              </a:rPr>
              <a:t>Расходы магазина</a:t>
            </a:r>
            <a:endParaRPr sz="26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256032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9400" y="2542032"/>
            <a:ext cx="4251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реклама товаров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09360" y="3218687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9400" y="3200399"/>
            <a:ext cx="4251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комиссии и услуги маркетплейса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09360" y="3877055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400" y="3858768"/>
            <a:ext cx="4251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упаковка и расходные материалы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09360" y="4535423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29400" y="4517136"/>
            <a:ext cx="4251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покупка товаров для продажи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  <p:sndAc>
          <p:stSnd>
            <p:snd r:embed="rId1" name="hammer.wav"/>
          </p:stSnd>
        </p:sndAc>
      </p:transition>
    </mc:Choice>
    <mc:Fallback>
      <p:transition spd="slow">
        <p:fade/>
        <p:sndAc>
          <p:stSnd>
            <p:snd r:embed="rId1" name="hammer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966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62A2E"/>
                </a:solidFill>
                <a:latin typeface="Aptos"/>
              </a:rPr>
              <a:t>Строительство дома</a:t>
            </a:r>
            <a:endParaRPr sz="28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26" name="Rounded Rectangle 11"/>
          <p:cNvSpPr/>
          <p:nvPr/>
        </p:nvSpPr>
        <p:spPr>
          <a:xfrm>
            <a:off x="11065510" y="507365"/>
            <a:ext cx="444500" cy="262890"/>
          </a:xfrm>
          <a:prstGeom prst="roundRect">
            <a:avLst>
              <a:gd name="adj" fmla="val 12000"/>
            </a:avLst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60000">
                <a:srgbClr val="B6C68D"/>
              </a:gs>
              <a:gs pos="0">
                <a:schemeClr val="accent3">
                  <a:lumMod val="20000"/>
                  <a:lumOff val="80000"/>
                </a:schemeClr>
              </a:gs>
              <a:gs pos="74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60000"/>
                  <a:lumOff val="40000"/>
                </a:schemeClr>
              </a:gs>
              <a:gs pos="94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74536"/>
            <a:ext cx="640080" cy="321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0</a:t>
            </a:r>
            <a:r>
              <a:rPr lang="ru-RU" sz="1500" b="1">
                <a:solidFill>
                  <a:srgbClr val="436F52"/>
                </a:solidFill>
                <a:latin typeface="Aptos"/>
              </a:rPr>
              <a:t>8</a:t>
            </a:r>
            <a:endParaRPr lang="ru-RU"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15240"/>
          </a:xfrm>
          <a:prstGeom prst="rect">
            <a:avLst/>
          </a:prstGeom>
          <a:solidFill>
            <a:srgbClr val="D3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389120"/>
          </a:xfrm>
          <a:prstGeom prst="roundRect">
            <a:avLst>
              <a:gd name="adj" fmla="val 12000"/>
            </a:avLst>
          </a:prstGeom>
          <a:solidFill>
            <a:srgbClr val="E8E0D1"/>
          </a:solidFill>
          <a:ln>
            <a:solidFill>
              <a:srgbClr val="E8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262A2E"/>
                </a:solidFill>
                <a:latin typeface="Aptos"/>
              </a:rPr>
              <a:t>Отдельная статья расходов</a:t>
            </a:r>
            <a:endParaRPr sz="27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9052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262A2E"/>
                </a:solidFill>
                <a:latin typeface="Aptos"/>
              </a:rPr>
              <a:t>Дом в Благодатном ещё строится, поэтому деньги периодически уходят на материалы и работу.</a:t>
            </a:r>
            <a:endParaRPr sz="21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7319" y="3822192"/>
            <a:ext cx="8366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строительные материалы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434340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7319" y="4325112"/>
            <a:ext cx="8366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инструменты и оборудование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7319" y="4828032"/>
            <a:ext cx="8366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работы по дому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534924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36F52"/>
                </a:solidFill>
                <a:latin typeface="Aptos"/>
              </a:rPr>
              <a:t>•</a:t>
            </a:r>
            <a:endParaRPr sz="18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17319" y="5330952"/>
            <a:ext cx="8366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62A2E"/>
                </a:solidFill>
                <a:latin typeface="Aptos"/>
              </a:rPr>
              <a:t>доставка материалов</a:t>
            </a:r>
            <a:endParaRPr sz="1800" b="0">
              <a:solidFill>
                <a:srgbClr val="262A2E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ipple dir="lu"/>
        <p:sndAc>
          <p:stSnd>
            <p:snd r:embed="rId1" name="suction.wav"/>
          </p:stSnd>
        </p:sndAc>
      </p:transition>
    </mc:Choice>
    <mc:Fallback>
      <p:transition>
        <p:fade/>
        <p:sndAc>
          <p:stSnd>
            <p:snd r:embed="rId1" name="suction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966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62A2E"/>
                </a:solidFill>
                <a:latin typeface="Aptos"/>
              </a:rPr>
              <a:t>Куда уходят деньги за месяц</a:t>
            </a:r>
            <a:endParaRPr sz="28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26" name="Rounded Rectangle 11"/>
          <p:cNvSpPr/>
          <p:nvPr/>
        </p:nvSpPr>
        <p:spPr>
          <a:xfrm>
            <a:off x="11065510" y="507365"/>
            <a:ext cx="444500" cy="262890"/>
          </a:xfrm>
          <a:prstGeom prst="roundRect">
            <a:avLst>
              <a:gd name="adj" fmla="val 12000"/>
            </a:avLst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60000">
                <a:srgbClr val="B6C68D"/>
              </a:gs>
              <a:gs pos="0">
                <a:schemeClr val="accent3">
                  <a:lumMod val="20000"/>
                  <a:lumOff val="80000"/>
                </a:schemeClr>
              </a:gs>
              <a:gs pos="74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60000"/>
                  <a:lumOff val="40000"/>
                </a:schemeClr>
              </a:gs>
              <a:gs pos="94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solidFill>
              <a:srgbClr val="E0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74536"/>
            <a:ext cx="640080" cy="321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0</a:t>
            </a:r>
            <a:r>
              <a:rPr lang="ru-RU" sz="1500" b="1">
                <a:solidFill>
                  <a:srgbClr val="436F52"/>
                </a:solidFill>
                <a:latin typeface="Aptos"/>
              </a:rPr>
              <a:t>9</a:t>
            </a:r>
            <a:endParaRPr lang="ru-RU"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881360" cy="15240"/>
          </a:xfrm>
          <a:prstGeom prst="rect">
            <a:avLst/>
          </a:prstGeom>
          <a:solidFill>
            <a:srgbClr val="D3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83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27048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62A2E"/>
                </a:solidFill>
                <a:latin typeface="Aptos"/>
              </a:rPr>
              <a:t>Квартира: коммунальные + интернет</a:t>
            </a:r>
            <a:endParaRPr sz="15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41080" y="1527048"/>
            <a:ext cx="2148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≈ 12 500 ₽</a:t>
            </a:r>
            <a:endParaRPr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2020824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62A2E"/>
                </a:solidFill>
                <a:latin typeface="Aptos"/>
              </a:rPr>
              <a:t>Дом: вода, отопление и прочее</a:t>
            </a:r>
            <a:endParaRPr sz="15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41080" y="2020824"/>
            <a:ext cx="2148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≈ 4 500 ₽</a:t>
            </a:r>
            <a:endParaRPr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62A2E"/>
                </a:solidFill>
                <a:latin typeface="Aptos"/>
              </a:rPr>
              <a:t>Откачка канализации/септика</a:t>
            </a:r>
            <a:endParaRPr sz="15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41080" y="2514600"/>
            <a:ext cx="2148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≈ 1 500 ₽</a:t>
            </a:r>
            <a:endParaRPr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62A2E"/>
                </a:solidFill>
                <a:latin typeface="Aptos"/>
              </a:rPr>
              <a:t>Электричество двух домов</a:t>
            </a:r>
            <a:endParaRPr sz="15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41080" y="3008376"/>
            <a:ext cx="2148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436F52"/>
                </a:solidFill>
                <a:latin typeface="Aptos"/>
              </a:rPr>
              <a:t>≈ 14 500 ₽</a:t>
            </a:r>
            <a:endParaRPr sz="16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1560" y="35021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62A2E"/>
                </a:solidFill>
                <a:latin typeface="Aptos"/>
              </a:rPr>
              <a:t>Продукты</a:t>
            </a:r>
            <a:endParaRPr sz="15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41080" y="3502152"/>
            <a:ext cx="2148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≈ 45 000 ₽</a:t>
            </a:r>
            <a:endParaRPr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1560" y="3995928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62A2E"/>
                </a:solidFill>
                <a:latin typeface="Aptos"/>
              </a:rPr>
              <a:t>Транспорт, связь</a:t>
            </a:r>
            <a:endParaRPr sz="15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41080" y="3995928"/>
            <a:ext cx="2148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≈ 7 000 ₽</a:t>
            </a:r>
            <a:endParaRPr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4489704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62A2E"/>
                </a:solidFill>
                <a:latin typeface="Aptos"/>
              </a:rPr>
              <a:t>Ozon и другие покупки</a:t>
            </a:r>
            <a:endParaRPr sz="15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41080" y="4489704"/>
            <a:ext cx="2148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≈ 5 000 ₽</a:t>
            </a:r>
            <a:endParaRPr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" y="4983480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62A2E"/>
                </a:solidFill>
                <a:latin typeface="Aptos"/>
              </a:rPr>
              <a:t>Расходы магазина и реклама</a:t>
            </a:r>
            <a:endParaRPr sz="15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41080" y="4983480"/>
            <a:ext cx="2148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≈ 8 000 ₽</a:t>
            </a:r>
            <a:endParaRPr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1560" y="5477256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62A2E"/>
                </a:solidFill>
                <a:latin typeface="Aptos"/>
              </a:rPr>
              <a:t>Строительство дома</a:t>
            </a:r>
            <a:endParaRPr sz="1500" b="0">
              <a:solidFill>
                <a:srgbClr val="262A2E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41080" y="5477256"/>
            <a:ext cx="2148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436F52"/>
                </a:solidFill>
                <a:latin typeface="Aptos"/>
              </a:rPr>
              <a:t>≈ 20 000 ₽</a:t>
            </a:r>
            <a:endParaRPr sz="1500" b="1">
              <a:solidFill>
                <a:srgbClr val="436F52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5840" y="5806440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62A2E"/>
                </a:solidFill>
                <a:latin typeface="Aptos"/>
              </a:rPr>
              <a:t>Итого ориентировочно: ≈ 113 500 ₽ в месяц</a:t>
            </a:r>
            <a:endParaRPr sz="2000" b="1">
              <a:solidFill>
                <a:srgbClr val="262A2E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6464935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76C70"/>
                </a:solidFill>
                <a:latin typeface="Aptos"/>
              </a:rPr>
              <a:t>Величина электрических расходов меняется по тому, сколько часов работает компьютер и оборудование в обоих домах.</a:t>
            </a:r>
            <a:endParaRPr sz="1300" b="0">
              <a:solidFill>
                <a:srgbClr val="676C70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  <p:sndAc>
          <p:stSnd>
            <p:snd r:embed="rId1" name="applause.wav"/>
          </p:stSnd>
        </p:sndAc>
      </p:transition>
    </mc:Choice>
    <mc:Fallback>
      <p:transition spd="med">
        <p:newsflash/>
        <p:sndAc>
          <p:stSnd>
            <p:snd r:embed="rId1" name="applaus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3051</Words>
  <Application>WPS Presentation</Application>
  <PresentationFormat>On-screen Show (4:3)</PresentationFormat>
  <Paragraphs>280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WPS_1790828086</cp:lastModifiedBy>
  <cp:revision>5</cp:revision>
  <dcterms:created xsi:type="dcterms:W3CDTF">2013-01-27T09:14:00Z</dcterms:created>
  <dcterms:modified xsi:type="dcterms:W3CDTF">2026-10-01T04:32:30Z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3F50F858CD0B439EBCF8FF9BFA3C5C9E_13</vt:lpwstr>
  </property>
  <property fmtid="{D5CDD505-2E9C-101B-9397-08002B2CF9AE}" pid="3" name="KSOProductBuildVer">
    <vt:lpwstr>1049-12.2.0.23206</vt:lpwstr>
  </property>
</Properties>
</file>